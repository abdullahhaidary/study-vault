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9875520" cy="2011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B7185"/>
                </a:solidFill>
                <a:latin typeface="Inter"/>
              </a:rPr>
              <a:t>JOB CORE · REACT QUERY · PHASES 3–4</a:t>
            </a:r>
          </a:p>
          <a:p>
            <a:pPr algn="l"/>
            <a:r>
              <a:rPr sz="4200" b="1">
                <a:solidFill>
                  <a:srgbClr val="F8FAFC"/>
                </a:solidFill>
                <a:latin typeface="Inter Display"/>
              </a:rPr>
              <a:t>React Query — Lesson 02: Caching &amp; Mutations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87552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Inter"/>
              </a:rPr>
              <a:t>Caching, Sync, Refetch Triggers, useMutation, Invalidation &amp; Server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Source Lesson: Caching, Sync, Mutation &amp; Server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l2_blee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HOW TO USE THIS · PHASES 3–4 ROADMAP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Master Core Cache and Mutation Patterns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Study Vault Review Workflow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Checklist PDF Review: </a:t>
            </a:r>
            <a:r>
              <a:rPr sz="1500" b="0">
                <a:solidFill>
                  <a:srgbClr val="334155"/>
                </a:solidFill>
                <a:latin typeface="Inter"/>
              </a:rPr>
              <a:t>Review each slide like a structured checklist before coding.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Core (Know These): </a:t>
            </a:r>
            <a:r>
              <a:rPr sz="1500" b="0">
                <a:solidFill>
                  <a:srgbClr val="334155"/>
                </a:solidFill>
                <a:latin typeface="Inter"/>
              </a:rPr>
              <a:t>Master staleTime, gcTime, refetching, useMutation, and sync.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Mention (Learn Later): </a:t>
            </a:r>
            <a:r>
              <a:rPr sz="1500" b="0">
                <a:solidFill>
                  <a:srgbClr val="334155"/>
                </a:solidFill>
                <a:latin typeface="Inter"/>
              </a:rPr>
              <a:t>Treat polling, skipToken, and concurrent rollbacks as deep dives.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Study Vault &amp; Labs: </a:t>
            </a:r>
            <a:r>
              <a:rPr sz="1500" b="0">
                <a:solidFill>
                  <a:srgbClr val="334155"/>
                </a:solidFill>
                <a:latin typeface="Inter"/>
              </a:rPr>
              <a:t>Toggle explanations in Study Vault and build Projects 2 &amp;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Lesson 02 · Phases 3–4 Topic Map &amp; Study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8–9. CACHING · STALETIME · GCTIME (CORE + MENTION)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 Display"/>
              </a:rPr>
              <a:t>Control Freshness With staleTime and Memory Eviction With gcTime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1783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How React Query Caches by Key (Core)</a:t>
            </a:r>
          </a:p>
          <a:p>
            <a:pPr algn="l" marL="219456" indent="-219456">
              <a:spcAft>
                <a:spcPts val="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Four Cache States: </a:t>
            </a:r>
            <a:r>
              <a:rPr sz="1500" b="0">
                <a:solidFill>
                  <a:srgbClr val="334155"/>
                </a:solidFill>
                <a:latin typeface="Inter"/>
              </a:rPr>
              <a:t>Queries transition across fresh, stale, active, and inactive.</a:t>
            </a:r>
          </a:p>
          <a:p>
            <a:pPr algn="l" marL="219456" indent="-219456">
              <a:spcAft>
                <a:spcPts val="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Shared Cache: </a:t>
            </a:r>
            <a:r>
              <a:rPr sz="1500" b="0">
                <a:solidFill>
                  <a:srgbClr val="334155"/>
                </a:solidFill>
                <a:latin typeface="Inter"/>
              </a:rPr>
              <a:t>Components using the same key share one cache entry (Mention).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59" y="2011680"/>
            <a:ext cx="5120640" cy="1783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Garbage Collection &amp; Timing (Core + Mention)</a:t>
            </a:r>
          </a:p>
          <a:p>
            <a:pPr algn="l" marL="219456" indent="-219456">
              <a:spcAft>
                <a:spcPts val="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Garbage Collection: </a:t>
            </a:r>
            <a:r>
              <a:rPr sz="1500" b="0">
                <a:solidFill>
                  <a:srgbClr val="334155"/>
                </a:solidFill>
                <a:latin typeface="Inter"/>
              </a:rPr>
              <a:t>Inactive cache stays in memory until the gcTime timer expires.</a:t>
            </a:r>
          </a:p>
          <a:p>
            <a:pPr algn="l" marL="219456" indent="-219456">
              <a:spcAft>
                <a:spcPts val="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Canonical Timeline: </a:t>
            </a:r>
            <a:r>
              <a:rPr sz="1500" b="0">
                <a:solidFill>
                  <a:srgbClr val="334155"/>
                </a:solidFill>
                <a:latin typeface="Inter"/>
              </a:rPr>
              <a:t>Mount (fresh) -&gt; stale -&gt; unmount (inactive) -&gt; GC deletes entry.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02336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4480560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Cache Knob / State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Default &amp; Trigger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What It Controls in Your App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staleTime (Freshness)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Default: 0 ms (data is stale immediately).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How long cached data stays fresh without background refetching.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gcTime (Memory GC)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Default: 5 minutes after last observer unmounts.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How long inactive cache remains in memory before garbage collection.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Active vs Inactive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Based on mounted component observers.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Active queries have &gt;=1 mounted subscriber; inactive queries have 0.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8–9 Core &amp; Mention · Fresh/Stale/Active/Inactive, staleTime vs gcTime &amp; GC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l2_ble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10–12. REFETCH · RETRY · ENABLED (CORE)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Auto-Refetch on Focus and Gate With enabled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Refetch Triggers, Retries &amp; Gating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Focus · Mount · Reconnect: </a:t>
            </a:r>
            <a:r>
              <a:rPr sz="1500" b="0">
                <a:solidFill>
                  <a:srgbClr val="334155"/>
                </a:solidFill>
                <a:latin typeface="Inter"/>
              </a:rPr>
              <a:t>Stale queries auto-refetch on tab focus, mount, or network recovery.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Background + Manual: </a:t>
            </a:r>
            <a:r>
              <a:rPr sz="1500" b="0">
                <a:solidFill>
                  <a:srgbClr val="334155"/>
                </a:solidFill>
                <a:latin typeface="Inter"/>
              </a:rPr>
              <a:t>Auto refetches sync silently; call refetch() for user button clicks.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Retry Defaults: </a:t>
            </a:r>
            <a:r>
              <a:rPr sz="1500" b="0">
                <a:solidFill>
                  <a:srgbClr val="334155"/>
                </a:solidFill>
                <a:latin typeface="Inter"/>
              </a:rPr>
              <a:t>Retries failed requests 3 times; disable retry on 404 or 401 errors.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enabled &amp; Dependent: </a:t>
            </a:r>
            <a:r>
              <a:rPr sz="1500" b="0">
                <a:solidFill>
                  <a:srgbClr val="334155"/>
                </a:solidFill>
                <a:latin typeface="Inter"/>
              </a:rPr>
              <a:t>Use enabled: Boolean(userId) so dependent queries wait for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10–12 Core · Refetch, Retry &amp; enabled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10–12. ADVANCED FETCH CONTROL · MENTION (LEARN LATER)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 Display"/>
              </a:rPr>
              <a:t>Extend Fetching With Polling, Backoff, and Auth 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Polling &amp; Backoff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refetchInterval: </a:t>
            </a:r>
            <a:r>
              <a:rPr sz="1500" b="0">
                <a:solidFill>
                  <a:srgbClr val="334155"/>
                </a:solidFill>
                <a:latin typeface="Inter"/>
              </a:rPr>
              <a:t>Poll live endpoints on a fixed schedule (such as every 5s).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Exponential Backoff: </a:t>
            </a:r>
            <a:r>
              <a:rPr sz="1500" b="0">
                <a:solidFill>
                  <a:srgbClr val="334155"/>
                </a:solidFill>
                <a:latin typeface="Inter"/>
              </a:rPr>
              <a:t>Wait time doubles between retries so overloaded APIs recover.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skipToken Gating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skipToken Pattern: </a:t>
            </a:r>
            <a:r>
              <a:rPr sz="1500" b="0">
                <a:solidFill>
                  <a:srgbClr val="334155"/>
                </a:solidFill>
                <a:latin typeface="Inter"/>
              </a:rPr>
              <a:t>Type-safe TanStack alternative to enabled: false in TypeScript.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Dependent Chains: </a:t>
            </a:r>
            <a:r>
              <a:rPr sz="1500" b="0">
                <a:solidFill>
                  <a:srgbClr val="334155"/>
                </a:solidFill>
                <a:latin typeface="Inter"/>
              </a:rPr>
              <a:t>Pause child queries cleanly until parent IDs or params exist.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Auth-Gated Fetch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Session Readiness: </a:t>
            </a:r>
            <a:r>
              <a:rPr sz="1500" b="0">
                <a:solidFill>
                  <a:srgbClr val="334155"/>
                </a:solidFill>
                <a:latin typeface="Inter"/>
              </a:rPr>
              <a:t>Hold protected queries until the user auth token is loaded.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Smart Error Rules: </a:t>
            </a:r>
            <a:r>
              <a:rPr sz="1500" b="0">
                <a:solidFill>
                  <a:srgbClr val="334155"/>
                </a:solidFill>
                <a:latin typeface="Inter"/>
              </a:rPr>
              <a:t>Skip retries on 401/403 responses and redirect to login.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10–12 Mention · Polling, Exponential Backoff, skipToken &amp; Auth-Gated Fetching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l2_ble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13–14. USEMUTATION · CORE + MENTION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Run Server Writes With useMutation Callbacks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Server Writes &amp; Lifecycle Callbacks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Read vs Write (Core): </a:t>
            </a:r>
            <a:r>
              <a:rPr sz="1500" b="0">
                <a:solidFill>
                  <a:srgbClr val="334155"/>
                </a:solidFill>
                <a:latin typeface="Inter"/>
              </a:rPr>
              <a:t>useQuery reads cached data; useMutation performs POST/PUT/DELETE.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mutate &amp; mutateAsync: </a:t>
            </a:r>
            <a:r>
              <a:rPr sz="1500" b="0">
                <a:solidFill>
                  <a:srgbClr val="334155"/>
                </a:solidFill>
                <a:latin typeface="Inter"/>
              </a:rPr>
              <a:t>Pass mutationFn; call mutate() for callbacks or mutateAsync() to await.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States &amp; Callbacks: </a:t>
            </a:r>
            <a:r>
              <a:rPr sz="1500" b="0">
                <a:solidFill>
                  <a:srgbClr val="334155"/>
                </a:solidFill>
                <a:latin typeface="Inter"/>
              </a:rPr>
              <a:t>Track pending/error/success and run onSuccess, onError, onSettled.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Mention Deep Dives: </a:t>
            </a:r>
            <a:r>
              <a:rPr sz="1500" b="0">
                <a:solidFill>
                  <a:srgbClr val="334155"/>
                </a:solidFill>
                <a:latin typeface="Inter"/>
              </a:rPr>
              <a:t>onMutate pre-flight hook, reset() state cleanup, and API error shapes.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13–14 · useMutation, mutate &amp; Callbacks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15–17. INVALIDATION · CACHE WRITES · OPTIMISTIC (CORE)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 Display"/>
              </a:rPr>
              <a:t>Sync Server Writes via Invalidation, Cache Writes, or Rollbacks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023360"/>
                <a:gridCol w="4206240"/>
              </a:tblGrid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Core Sync Pattern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Mechanism &amp; API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8FAFC"/>
                          </a:solidFill>
                          <a:latin typeface="Inter Display"/>
                        </a:rPr>
                        <a:t>When to Use It</a:t>
                      </a:r>
                    </a:p>
                  </a:txBody>
                  <a:tcPr anchor="ctr" marL="109728" marR="109728" marT="45720" marB="45720">
                    <a:solidFill>
                      <a:srgbClr val="0F172A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invalidateQueries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Marks matching key prefixes stale and refetches.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Default choice after mutations when server computes state.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setQueryData / getQueryData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Reads or writes cache directly in memory.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When mutation response already returns the updated record.</a:t>
                      </a:r>
                    </a:p>
                  </a:txBody>
                  <a:tcPr anchor="ctr" marL="109728" marR="109728" marT="45720" marB="4572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E11D48"/>
                          </a:solidFill>
                          <a:latin typeface="Inter"/>
                        </a:rPr>
                        <a:t>Optimistic Update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Inter"/>
                        </a:rPr>
                        <a:t>Snapshot -&gt; update cache -&gt; rollback on error.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4155"/>
                          </a:solidFill>
                          <a:latin typeface="Inter"/>
                        </a:rPr>
                        <a:t>Instant UI response for toggles, likes, and todo edits.</a:t>
                      </a:r>
                    </a:p>
                  </a:txBody>
                  <a:tcPr anchor="ctr" marL="109728" marR="109728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5120640" cy="187451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Invalidate vs Direct Cache Write</a:t>
            </a:r>
          </a:p>
          <a:p>
            <a:pPr algn="l" marL="219456" indent="-219456">
              <a:spcAft>
                <a:spcPts val="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Partial Key Match: </a:t>
            </a:r>
            <a:r>
              <a:rPr sz="1500" b="0">
                <a:solidFill>
                  <a:srgbClr val="334155"/>
                </a:solidFill>
                <a:latin typeface="Inter"/>
              </a:rPr>
              <a:t>Invalidating ['todos'] refreshes ['todos', { status: 'done' }].</a:t>
            </a:r>
          </a:p>
          <a:p>
            <a:pPr algn="l" marL="219456" indent="-219456">
              <a:spcAft>
                <a:spcPts val="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Direct Cache Write: </a:t>
            </a:r>
            <a:r>
              <a:rPr sz="1500" b="0">
                <a:solidFill>
                  <a:srgbClr val="334155"/>
                </a:solidFill>
                <a:latin typeface="Inter"/>
              </a:rPr>
              <a:t>setQueryData updates UI immediately without a network refetch.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4206240"/>
            <a:ext cx="5120640" cy="187451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Three-Step Optimistic Flow</a:t>
            </a:r>
          </a:p>
          <a:p>
            <a:pPr algn="l" marL="219456" indent="-219456">
              <a:spcAft>
                <a:spcPts val="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1. Snapshot &amp; Write: </a:t>
            </a:r>
            <a:r>
              <a:rPr sz="1500" b="0">
                <a:solidFill>
                  <a:srgbClr val="334155"/>
                </a:solidFill>
                <a:latin typeface="Inter"/>
              </a:rPr>
              <a:t>Read prior state via getQueryData, then apply optimistic edit.</a:t>
            </a:r>
          </a:p>
          <a:p>
            <a:pPr algn="l" marL="219456" indent="-219456">
              <a:spcAft>
                <a:spcPts val="4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2. Rollback on Error: </a:t>
            </a:r>
            <a:r>
              <a:rPr sz="1500" b="0">
                <a:solidFill>
                  <a:srgbClr val="334155"/>
                </a:solidFill>
                <a:latin typeface="Inter"/>
              </a:rPr>
              <a:t>Restore the saved snapshot in onError if the request fails.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15–17 Core · invalidateQueries, setQueryData/getQueryData &amp; Optimistic Rollback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l2_ble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15–17. ADVANCED CACHE UPDATES · MENTION (LEARN LATER)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Guard Optimistic Writes With Immutability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Deep-Dive Cache Update Mechanics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Cancel Outgoing Queries: </a:t>
            </a:r>
            <a:r>
              <a:rPr sz="1500" b="0">
                <a:solidFill>
                  <a:srgbClr val="334155"/>
                </a:solidFill>
                <a:latin typeface="Inter"/>
              </a:rPr>
              <a:t>Call cancelQueries in onMutate so in-flight reads do not clobber UI.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Immutable Cache Updates: </a:t>
            </a:r>
            <a:r>
              <a:rPr sz="1500" b="0">
                <a:solidFill>
                  <a:srgbClr val="334155"/>
                </a:solidFill>
                <a:latin typeface="Inter"/>
              </a:rPr>
              <a:t>Always return a new array or object in setQueryData, never mutate.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setQueriesData Bulk Edit: </a:t>
            </a:r>
            <a:r>
              <a:rPr sz="1500" b="0">
                <a:solidFill>
                  <a:srgbClr val="334155"/>
                </a:solidFill>
                <a:latin typeface="Inter"/>
              </a:rPr>
              <a:t>Update all matching cache entries at once using a key prefix.</a:t>
            </a:r>
          </a:p>
          <a:p>
            <a:pPr algn="l" marL="219456" indent="-219456">
              <a:spcAft>
                <a:spcPts val="10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Concurrent &amp; Full Pattern: </a:t>
            </a:r>
            <a:r>
              <a:rPr sz="1500" b="0">
                <a:solidFill>
                  <a:srgbClr val="334155"/>
                </a:solidFill>
                <a:latin typeface="Inter"/>
              </a:rPr>
              <a:t>Handle overlapping mutations and resync server state in onSettled.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Modules 15–17 Mention · Optimistic Safeguards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11D48"/>
                </a:solidFill>
                <a:latin typeface="Inter"/>
              </a:rPr>
              <a:t>PRACTICE &amp; REVIEW · FULL LESSON.MD</a:t>
            </a:r>
          </a:p>
          <a:p>
            <a:pPr algn="l"/>
            <a:r>
              <a:rPr sz="3000" b="1">
                <a:solidFill>
                  <a:srgbClr val="0F172A"/>
                </a:solidFill>
                <a:latin typeface="Inter Display"/>
              </a:rPr>
              <a:t>Build Projects 2 and 3 in Full lesson.md to Master Phases 3–4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Projects 2 &amp; 3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Project 2: Explorer: </a:t>
            </a:r>
            <a:r>
              <a:rPr sz="1500" b="0">
                <a:solidFill>
                  <a:srgbClr val="334155"/>
                </a:solidFill>
                <a:latin typeface="Inter"/>
              </a:rPr>
              <a:t>Build Product Explorer with staleTime, gcTime, and enabled.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Project 3: Todo App: </a:t>
            </a:r>
            <a:r>
              <a:rPr sz="1500" b="0">
                <a:solidFill>
                  <a:srgbClr val="334155"/>
                </a:solidFill>
                <a:latin typeface="Inter"/>
              </a:rPr>
              <a:t>Implement mutations, invalidation, and optimistic rollbacks.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284C7"/>
                </a:solidFill>
                <a:latin typeface="Inter Display"/>
              </a:rPr>
              <a:t>Self-Check Quiz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Cache &amp; Refetch: </a:t>
            </a:r>
            <a:r>
              <a:rPr sz="1500" b="0">
                <a:solidFill>
                  <a:srgbClr val="334155"/>
                </a:solidFill>
                <a:latin typeface="Inter"/>
              </a:rPr>
              <a:t>Contrast staleTime vs gcTime and trace focus/mount refetches.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Mutation &amp; Sync: </a:t>
            </a:r>
            <a:r>
              <a:rPr sz="1500" b="0">
                <a:solidFill>
                  <a:srgbClr val="334155"/>
                </a:solidFill>
                <a:latin typeface="Inter"/>
              </a:rPr>
              <a:t>Choose between invalidateQueries, setQueryData, and rollback.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267712"/>
            <a:ext cx="2779776" cy="32369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11D48"/>
                </a:solidFill>
                <a:latin typeface="Inter Display"/>
              </a:rPr>
              <a:t>Phase 5 Preview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What's Next: Phase 5: </a:t>
            </a:r>
            <a:r>
              <a:rPr sz="1500" b="0">
                <a:solidFill>
                  <a:srgbClr val="334155"/>
                </a:solidFill>
                <a:latin typeface="Inter"/>
              </a:rPr>
              <a:t>Advance to pagination, infinite queries, and prefetching.</a:t>
            </a:r>
          </a:p>
          <a:p>
            <a:pPr algn="l" marL="219456" indent="-219456">
              <a:spcAft>
                <a:spcPts val="1600"/>
              </a:spcAft>
              <a:buFont typeface="Inter"/>
              <a:buChar char="•"/>
            </a:pPr>
            <a:r>
              <a:rPr sz="1800" b="1">
                <a:solidFill>
                  <a:srgbClr val="0F172A"/>
                </a:solidFill>
                <a:latin typeface="Inter"/>
              </a:rPr>
              <a:t>If You Missed Class: </a:t>
            </a:r>
            <a:r>
              <a:rPr sz="1500" b="0">
                <a:solidFill>
                  <a:srgbClr val="334155"/>
                </a:solidFill>
                <a:latin typeface="Inter"/>
              </a:rPr>
              <a:t>Open full lesson.md in Study Vault and toggle Mention blocks.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Practice Roadmap · Projects 2 &amp; 3, Self-Check &amp; Phase 5 Preview in full lesson.md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875520" cy="2011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FB7185"/>
                </a:solidFill>
                <a:latin typeface="Inter"/>
              </a:rPr>
              <a:t>LESSON 02 COMPLETE · STUDY VAULT</a:t>
            </a:r>
          </a:p>
          <a:p>
            <a:pPr algn="l"/>
            <a:r>
              <a:rPr sz="3800" b="1">
                <a:solidFill>
                  <a:srgbClr val="F8FAFC"/>
                </a:solidFill>
                <a:latin typeface="Inter Display"/>
              </a:rPr>
              <a:t>Tune Freshness With staleTime. Sync Writes With Mutations.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987552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Inter"/>
              </a:rPr>
              <a:t>Open lesson.md in Study Vault to build Projects 2 and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JOB Core · Phases 3–4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