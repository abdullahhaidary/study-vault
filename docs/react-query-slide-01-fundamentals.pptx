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9601200" cy="2011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1">
                <a:solidFill>
                  <a:srgbClr val="FB7185"/>
                </a:solidFill>
                <a:latin typeface="Inter"/>
              </a:rPr>
              <a:t>JOB CORE · REACT QUERY · PHASES 1–2</a:t>
            </a:r>
          </a:p>
          <a:p>
            <a:pPr algn="l"/>
            <a:r>
              <a:rPr sz="4400" b="1">
                <a:solidFill>
                  <a:srgbClr val="F8FAFC"/>
                </a:solidFill>
                <a:latin typeface="Inter Display"/>
              </a:rPr>
              <a:t>React Query — Lesson 01: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9601200" cy="10972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2000" b="0">
                <a:solidFill>
                  <a:srgbClr val="CBD5E1"/>
                </a:solidFill>
                <a:latin typeface="Inter"/>
              </a:rPr>
              <a:t>Server-State Architecture, Caching Lifecycle, useQuery Setup, and Query Keys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Inter"/>
              </a:rPr>
              <a:t>Source Lesson: Fundamentals · Classroom &amp; Self-Study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ropped_bleed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304" y="0"/>
            <a:ext cx="6095390" cy="6858000"/>
          </a:xfrm>
          <a:prstGeom prst="rect">
            <a:avLst/>
          </a:prstGeom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512064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11D48"/>
                </a:solidFill>
                <a:latin typeface="Inter"/>
              </a:rPr>
              <a:t>HOW TO USE THIS · LESSON ROADMAP</a:t>
            </a:r>
          </a:p>
          <a:p>
            <a:pPr algn="l"/>
            <a:r>
              <a:rPr sz="2800" b="1">
                <a:solidFill>
                  <a:srgbClr val="0F172A"/>
                </a:solidFill>
                <a:latin typeface="Inter Display"/>
              </a:rPr>
              <a:t>Master Core Topics First, Toggle Mention Later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5120640" cy="4206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 b="1">
                <a:solidFill>
                  <a:srgbClr val="0284C7"/>
                </a:solidFill>
                <a:latin typeface="Inter Display"/>
              </a:rPr>
              <a:t>Study Vault Review Workflow</a:t>
            </a:r>
          </a:p>
          <a:p>
            <a:pPr algn="l" marL="219456" indent="-219456">
              <a:spcAft>
                <a:spcPts val="10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Checklist PDF Review: </a:t>
            </a:r>
            <a:r>
              <a:rPr sz="1500" b="0">
                <a:solidFill>
                  <a:srgbClr val="334155"/>
                </a:solidFill>
                <a:latin typeface="Inter"/>
              </a:rPr>
              <a:t>Scan every slide like a topic checklist before coding.</a:t>
            </a:r>
          </a:p>
          <a:p>
            <a:pPr algn="l" marL="219456" indent="-219456">
              <a:spcAft>
                <a:spcPts val="10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Core vs Mention Tiers: </a:t>
            </a:r>
            <a:r>
              <a:rPr sz="1500" b="0">
                <a:solidFill>
                  <a:srgbClr val="334155"/>
                </a:solidFill>
                <a:latin typeface="Inter"/>
              </a:rPr>
              <a:t>Know Core topics now; explore Mention items later.</a:t>
            </a:r>
          </a:p>
          <a:p>
            <a:pPr algn="l" marL="219456" indent="-219456">
              <a:spcAft>
                <a:spcPts val="10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Toggle Study Vault: </a:t>
            </a:r>
            <a:r>
              <a:rPr sz="1500" b="0">
                <a:solidFill>
                  <a:srgbClr val="334155"/>
                </a:solidFill>
                <a:latin typeface="Inter"/>
              </a:rPr>
              <a:t>Open Fundamentals in Study Vault when a topic feels unclear.</a:t>
            </a:r>
          </a:p>
          <a:p>
            <a:pPr algn="l" marL="219456" indent="-219456">
              <a:spcAft>
                <a:spcPts val="10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Full lesson.md Labs: </a:t>
            </a:r>
            <a:r>
              <a:rPr sz="1500" b="0">
                <a:solidFill>
                  <a:srgbClr val="334155"/>
                </a:solidFill>
                <a:latin typeface="Inter"/>
              </a:rPr>
              <a:t>Complete practice exercises and Project 1 in lesson.md.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512064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Inter"/>
              </a:rPr>
              <a:t>Lesson 01 · Source: Fundamentals (Phases 1–2)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11D48"/>
                </a:solidFill>
                <a:latin typeface="Inter"/>
              </a:rPr>
              <a:t>1. INTRODUCTION · CORE (KNOW THESE)</a:t>
            </a:r>
          </a:p>
          <a:p>
            <a:pPr algn="l"/>
            <a:r>
              <a:rPr sz="3000" b="1">
                <a:solidFill>
                  <a:srgbClr val="0F172A"/>
                </a:solidFill>
                <a:latin typeface="Inter Display"/>
              </a:rPr>
              <a:t>React Query Replaces Fragile useEffect Fetching With Server Cache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5120640" cy="17830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E11D48"/>
                </a:solidFill>
                <a:latin typeface="Inter Display"/>
              </a:rPr>
              <a:t>What Is TanStack Query &amp; Why Use It</a:t>
            </a:r>
          </a:p>
          <a:p>
            <a:pPr algn="l" marL="219456" indent="-219456">
              <a:spcAft>
                <a:spcPts val="6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Async State Manager: </a:t>
            </a:r>
            <a:r>
              <a:rPr sz="1500" b="0">
                <a:solidFill>
                  <a:srgbClr val="334155"/>
                </a:solidFill>
                <a:latin typeface="Inter"/>
              </a:rPr>
              <a:t>Fetches, caches, and syncs remote server state.</a:t>
            </a:r>
          </a:p>
          <a:p>
            <a:pPr algn="l" marL="219456" indent="-219456">
              <a:spcAft>
                <a:spcPts val="4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Problems Solved: </a:t>
            </a:r>
            <a:r>
              <a:rPr sz="1500" b="0">
                <a:solidFill>
                  <a:srgbClr val="334155"/>
                </a:solidFill>
                <a:latin typeface="Inter"/>
              </a:rPr>
              <a:t>Deduplicates requests and auto-updates stale cache.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59" y="2011680"/>
            <a:ext cx="5120640" cy="17830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0284C7"/>
                </a:solidFill>
                <a:latin typeface="Inter Display"/>
              </a:rPr>
              <a:t>Manual useEffect Fetching Pain</a:t>
            </a:r>
          </a:p>
          <a:p>
            <a:pPr algn="l" marL="219456" indent="-219456">
              <a:spcAft>
                <a:spcPts val="6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Boilerplate Flags: </a:t>
            </a:r>
            <a:r>
              <a:rPr sz="1500" b="0">
                <a:solidFill>
                  <a:srgbClr val="334155"/>
                </a:solidFill>
                <a:latin typeface="Inter"/>
              </a:rPr>
              <a:t>Hand-wiring loading, error, and data on every view.</a:t>
            </a:r>
          </a:p>
          <a:p>
            <a:pPr algn="l" marL="219456" indent="-219456">
              <a:spcAft>
                <a:spcPts val="4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Race Conditions: </a:t>
            </a:r>
            <a:r>
              <a:rPr sz="1500" b="0">
                <a:solidFill>
                  <a:srgbClr val="334155"/>
                </a:solidFill>
                <a:latin typeface="Inter"/>
              </a:rPr>
              <a:t>Stale responses overwrite UI; remounts trigger refetches.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4023360"/>
          <a:ext cx="1069848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4297680"/>
                <a:gridCol w="4297680"/>
              </a:tblGrid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8FAFC"/>
                          </a:solidFill>
                          <a:latin typeface="Inter Display"/>
                        </a:rPr>
                        <a:t>Dimension</a:t>
                      </a:r>
                    </a:p>
                  </a:txBody>
                  <a:tcPr anchor="ctr" marL="109728" marR="109728" marT="45720" marB="45720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8FAFC"/>
                          </a:solidFill>
                          <a:latin typeface="Inter Display"/>
                        </a:rPr>
                        <a:t>Client State (UI Memory)</a:t>
                      </a:r>
                    </a:p>
                  </a:txBody>
                  <a:tcPr anchor="ctr" marL="109728" marR="109728" marT="45720" marB="45720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8FAFC"/>
                          </a:solidFill>
                          <a:latin typeface="Inter Display"/>
                        </a:rPr>
                        <a:t>Server State (Remote API &amp; Cache)</a:t>
                      </a:r>
                    </a:p>
                  </a:txBody>
                  <a:tcPr anchor="ctr" marL="109728" marR="109728" marT="45720" marB="45720">
                    <a:solidFill>
                      <a:srgbClr val="0F172A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F172A"/>
                          </a:solidFill>
                          <a:latin typeface="Inter"/>
                        </a:rPr>
                        <a:t>Location &amp; Control</a:t>
                      </a:r>
                    </a:p>
                  </a:txBody>
                  <a:tcPr anchor="ctr" marL="109728" marR="109728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334155"/>
                          </a:solidFill>
                          <a:latin typeface="Inter"/>
                        </a:rPr>
                        <a:t>Lives in browser memory; 100% owned by local UI.</a:t>
                      </a:r>
                    </a:p>
                  </a:txBody>
                  <a:tcPr anchor="ctr" marL="109728" marR="109728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  <a:latin typeface="Inter"/>
                        </a:rPr>
                        <a:t>Stored remotely; shared and mutated by other users.</a:t>
                      </a:r>
                    </a:p>
                  </a:txBody>
                  <a:tcPr anchor="ctr" marL="109728" marR="109728" marT="45720" marB="45720">
                    <a:solidFill>
                      <a:srgbClr val="F1F5F9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F172A"/>
                          </a:solidFill>
                          <a:latin typeface="Inter"/>
                        </a:rPr>
                        <a:t>Freshness &amp; Sync</a:t>
                      </a:r>
                    </a:p>
                  </a:txBody>
                  <a:tcPr anchor="ctr" marL="109728" marR="10972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334155"/>
                          </a:solidFill>
                          <a:latin typeface="Inter"/>
                        </a:rPr>
                        <a:t>Synchronous and always current via useState.</a:t>
                      </a:r>
                    </a:p>
                  </a:txBody>
                  <a:tcPr anchor="ctr" marL="109728" marR="10972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  <a:latin typeface="Inter"/>
                        </a:rPr>
                        <a:t>Asynchronous; turns stale and needs revalidation.</a:t>
                      </a:r>
                    </a:p>
                  </a:txBody>
                  <a:tcPr anchor="ctr" marL="109728" marR="109728" marT="45720" marB="45720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F172A"/>
                          </a:solidFill>
                          <a:latin typeface="Inter"/>
                        </a:rPr>
                        <a:t>Ideal Tooling</a:t>
                      </a:r>
                    </a:p>
                  </a:txBody>
                  <a:tcPr anchor="ctr" marL="109728" marR="109728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334155"/>
                          </a:solidFill>
                          <a:latin typeface="Inter"/>
                        </a:rPr>
                        <a:t>useState, useReducer, Context, Zustand, or Redux.</a:t>
                      </a:r>
                    </a:p>
                  </a:txBody>
                  <a:tcPr anchor="ctr" marL="109728" marR="109728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  <a:latin typeface="Inter"/>
                        </a:rPr>
                        <a:t>React Query (TanStack Query) for cache and sync.</a:t>
                      </a:r>
                    </a:p>
                  </a:txBody>
                  <a:tcPr anchor="ctr" marL="109728" marR="109728" marT="45720" marB="4572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Inter"/>
              </a:rPr>
              <a:t>Module 1 Core · Server State vs Client State &amp; Manual useEffect Pain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ropped_bleed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304" y="0"/>
            <a:ext cx="6095390" cy="6858000"/>
          </a:xfrm>
          <a:prstGeom prst="rect">
            <a:avLst/>
          </a:prstGeom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512064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11D48"/>
                </a:solidFill>
                <a:latin typeface="Inter"/>
              </a:rPr>
              <a:t>1. INTRODUCTION · MENTION (LEARN LATER)</a:t>
            </a:r>
          </a:p>
          <a:p>
            <a:pPr algn="l"/>
            <a:r>
              <a:rPr sz="2800" b="1">
                <a:solidFill>
                  <a:srgbClr val="0F172A"/>
                </a:solidFill>
                <a:latin typeface="Inter Display"/>
              </a:rPr>
              <a:t>Pair React Query With Fetchers and UI Stores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5120640" cy="4206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 b="1">
                <a:solidFill>
                  <a:srgbClr val="E11D48"/>
                </a:solidFill>
                <a:latin typeface="Inter Display"/>
              </a:rPr>
              <a:t>How React Query Fits the Ecosystem</a:t>
            </a:r>
          </a:p>
          <a:p>
            <a:pPr algn="l" marL="219456" indent="-219456">
              <a:spcAft>
                <a:spcPts val="10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vs Redux: </a:t>
            </a:r>
            <a:r>
              <a:rPr sz="1500" b="0">
                <a:solidFill>
                  <a:srgbClr val="334155"/>
                </a:solidFill>
                <a:latin typeface="Inter"/>
              </a:rPr>
              <a:t>Redux holds client UI state; React Query replaces async thunks.</a:t>
            </a:r>
          </a:p>
          <a:p>
            <a:pPr algn="l" marL="219456" indent="-219456">
              <a:spcAft>
                <a:spcPts val="10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vs RTK Query: </a:t>
            </a:r>
            <a:r>
              <a:rPr sz="1500" b="0">
                <a:solidFill>
                  <a:srgbClr val="334155"/>
                </a:solidFill>
                <a:latin typeface="Inter"/>
              </a:rPr>
              <a:t>RTK Query couples to Redux; React Query works standalone.</a:t>
            </a:r>
          </a:p>
          <a:p>
            <a:pPr algn="l" marL="219456" indent="-219456">
              <a:spcAft>
                <a:spcPts val="10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vs Axios / Fetch: </a:t>
            </a:r>
            <a:r>
              <a:rPr sz="1500" b="0">
                <a:solidFill>
                  <a:srgbClr val="334155"/>
                </a:solidFill>
                <a:latin typeface="Inter"/>
              </a:rPr>
              <a:t>Axios executes HTTP calls; React Query caches the response.</a:t>
            </a:r>
          </a:p>
          <a:p>
            <a:pPr algn="l" marL="219456" indent="-219456">
              <a:spcAft>
                <a:spcPts val="10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When to Use / Avoid: </a:t>
            </a:r>
            <a:r>
              <a:rPr sz="1500" b="0">
                <a:solidFill>
                  <a:srgbClr val="334155"/>
                </a:solidFill>
                <a:latin typeface="Inter"/>
              </a:rPr>
              <a:t>Use for remote APIs and sync; skip on static-only sites.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512064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Inter"/>
              </a:rPr>
              <a:t>Module 1 Mention · Toggle in Study Vault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11D48"/>
                </a:solidFill>
                <a:latin typeface="Inter"/>
              </a:rPr>
              <a:t>2. SERVER STATE &amp; ARCHITECTURE · CORE + MENTION</a:t>
            </a:r>
          </a:p>
          <a:p>
            <a:pPr algn="l"/>
            <a:r>
              <a:rPr sz="3000" b="1">
                <a:solidFill>
                  <a:srgbClr val="0F172A"/>
                </a:solidFill>
                <a:latin typeface="Inter Display"/>
              </a:rPr>
              <a:t>Stale-While-Revalidate Serves Cache Instantly and Syncs Silently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291840" cy="3749039"/>
          </a:xfrm>
          <a:prstGeom prst="roundRect">
            <a:avLst>
              <a:gd name="adj" fmla="val 6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2267712"/>
            <a:ext cx="2779776" cy="3236975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11D48"/>
                </a:solidFill>
                <a:latin typeface="Inter Display"/>
              </a:rPr>
              <a:t>Lifecycle (Core)</a:t>
            </a:r>
          </a:p>
          <a:p>
            <a:pPr algn="l" marL="219456" indent="-219456">
              <a:spcAft>
                <a:spcPts val="16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Fetch · Cache · Sync: </a:t>
            </a:r>
            <a:r>
              <a:rPr sz="1500" b="0">
                <a:solidFill>
                  <a:srgbClr val="334155"/>
                </a:solidFill>
                <a:latin typeface="Inter"/>
              </a:rPr>
              <a:t>Fetches remote data, stores it by key, and updates subscribers.</a:t>
            </a:r>
          </a:p>
          <a:p>
            <a:pPr algn="l" marL="219456" indent="-219456">
              <a:spcAft>
                <a:spcPts val="16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Shared Ownership: </a:t>
            </a:r>
            <a:r>
              <a:rPr sz="1500" b="0">
                <a:solidFill>
                  <a:srgbClr val="334155"/>
                </a:solidFill>
                <a:latin typeface="Inter"/>
              </a:rPr>
              <a:t>Multiple components read one cache entry without extra network calls.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2011680"/>
            <a:ext cx="3291840" cy="3749039"/>
          </a:xfrm>
          <a:prstGeom prst="roundRect">
            <a:avLst>
              <a:gd name="adj" fmla="val 6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90872" y="2267712"/>
            <a:ext cx="2779776" cy="3236975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0284C7"/>
                </a:solidFill>
                <a:latin typeface="Inter Display"/>
              </a:rPr>
              <a:t>Freshness (Core)</a:t>
            </a:r>
          </a:p>
          <a:p>
            <a:pPr algn="l" marL="219456" indent="-219456">
              <a:spcAft>
                <a:spcPts val="16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Fresh Cache Hit: </a:t>
            </a:r>
            <a:r>
              <a:rPr sz="1500" b="0">
                <a:solidFill>
                  <a:srgbClr val="334155"/>
                </a:solidFill>
                <a:latin typeface="Inter"/>
              </a:rPr>
              <a:t>Fresh data returns immediately without hitting the network.</a:t>
            </a:r>
          </a:p>
          <a:p>
            <a:pPr algn="l" marL="219456" indent="-219456">
              <a:spcAft>
                <a:spcPts val="16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Stale &amp; Refetch: </a:t>
            </a:r>
            <a:r>
              <a:rPr sz="1500" b="0">
                <a:solidFill>
                  <a:srgbClr val="334155"/>
                </a:solidFill>
                <a:latin typeface="Inter"/>
              </a:rPr>
              <a:t>Stale data renders fast while refetching in the background.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2011680"/>
            <a:ext cx="3291840" cy="3749039"/>
          </a:xfrm>
          <a:prstGeom prst="roundRect">
            <a:avLst>
              <a:gd name="adj" fmla="val 6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94192" y="2267712"/>
            <a:ext cx="2779776" cy="3236975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11D48"/>
                </a:solidFill>
                <a:latin typeface="Inter Display"/>
              </a:rPr>
              <a:t>Sync Flow (Note)</a:t>
            </a:r>
          </a:p>
          <a:p>
            <a:pPr algn="l" marL="219456" indent="-219456">
              <a:spcAft>
                <a:spcPts val="16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Cache Invalidation: </a:t>
            </a:r>
            <a:r>
              <a:rPr sz="1500" b="0">
                <a:solidFill>
                  <a:srgbClr val="334155"/>
                </a:solidFill>
                <a:latin typeface="Inter"/>
              </a:rPr>
              <a:t>Marks cached keys stale after edits so UI auto-refreshes.</a:t>
            </a:r>
          </a:p>
          <a:p>
            <a:pPr algn="l" marL="219456" indent="-219456">
              <a:spcAft>
                <a:spcPts val="16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Architecture Flow: </a:t>
            </a:r>
            <a:r>
              <a:rPr sz="1500" b="0">
                <a:solidFill>
                  <a:srgbClr val="334155"/>
                </a:solidFill>
                <a:latin typeface="Inter"/>
              </a:rPr>
              <a:t>Component mounts -&gt; observer checks cache -&gt; background sync.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Inter"/>
              </a:rPr>
              <a:t>Module 2 Core &amp; Mention · Server-State Lifecycle, Freshness &amp; Cache Ownership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ropped_bleed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304" y="0"/>
            <a:ext cx="6095390" cy="6858000"/>
          </a:xfrm>
          <a:prstGeom prst="rect">
            <a:avLst/>
          </a:prstGeom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512064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11D48"/>
                </a:solidFill>
                <a:latin typeface="Inter"/>
              </a:rPr>
              <a:t>4–5. SETUP &amp; USEQUERY · CORE (KNOW THESE)</a:t>
            </a:r>
          </a:p>
          <a:p>
            <a:pPr algn="l"/>
            <a:r>
              <a:rPr sz="2800" b="1">
                <a:solidFill>
                  <a:srgbClr val="0F172A"/>
                </a:solidFill>
                <a:latin typeface="Inter Display"/>
              </a:rPr>
              <a:t>Wrap Root in QueryClient and Call useQuery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5120640" cy="4206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 b="1">
                <a:solidFill>
                  <a:srgbClr val="0284C7"/>
                </a:solidFill>
                <a:latin typeface="Inter Display"/>
              </a:rPr>
              <a:t>Four Building Blocks of Every Query</a:t>
            </a:r>
          </a:p>
          <a:p>
            <a:pPr algn="l" marL="219456" indent="-219456">
              <a:spcAft>
                <a:spcPts val="10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Client &amp; Provider: </a:t>
            </a:r>
            <a:r>
              <a:rPr sz="1500" b="0">
                <a:solidFill>
                  <a:srgbClr val="334155"/>
                </a:solidFill>
                <a:latin typeface="Inter"/>
              </a:rPr>
              <a:t>Create new QueryClient() once and wrap &lt;App /&gt; at root.</a:t>
            </a:r>
          </a:p>
          <a:p>
            <a:pPr algn="l" marL="219456" indent="-219456">
              <a:spcAft>
                <a:spcPts val="10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queryKey + queryFn: </a:t>
            </a:r>
            <a:r>
              <a:rPr sz="1500" b="0">
                <a:solidFill>
                  <a:srgbClr val="334155"/>
                </a:solidFill>
                <a:latin typeface="Inter"/>
              </a:rPr>
              <a:t>Pass a unique key array ['users'] and a Promise callback.</a:t>
            </a:r>
          </a:p>
          <a:p>
            <a:pPr algn="l" marL="219456" indent="-219456">
              <a:spcAft>
                <a:spcPts val="10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Initial vs Background: </a:t>
            </a:r>
            <a:r>
              <a:rPr sz="1500" b="0">
                <a:solidFill>
                  <a:srgbClr val="334155"/>
                </a:solidFill>
                <a:latin typeface="Inter"/>
              </a:rPr>
              <a:t>First fetch loads fresh; remounts show cache while syncing.</a:t>
            </a:r>
          </a:p>
          <a:p>
            <a:pPr algn="l" marL="219456" indent="-219456">
              <a:spcAft>
                <a:spcPts val="10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Manual refetch(): </a:t>
            </a:r>
            <a:r>
              <a:rPr sz="1500" b="0">
                <a:solidFill>
                  <a:srgbClr val="334155"/>
                </a:solidFill>
                <a:latin typeface="Inter"/>
              </a:rPr>
              <a:t>Call refetch() on user actions to force an immediate update.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512064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Inter"/>
              </a:rPr>
              <a:t>Modules 4–5 Core · Setup &amp; useQuery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11D48"/>
                </a:solidFill>
                <a:latin typeface="Inter"/>
              </a:rPr>
              <a:t>4–5. LOADING FLAGS (CORE) &amp; CONFIG (MENTION)</a:t>
            </a:r>
          </a:p>
          <a:p>
            <a:pPr algn="l"/>
            <a:r>
              <a:rPr sz="3000" b="1">
                <a:solidFill>
                  <a:srgbClr val="0F172A"/>
                </a:solidFill>
                <a:latin typeface="Inter Display"/>
              </a:rPr>
              <a:t>Separate First-Load Spinners From Background Sync States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2011680"/>
          <a:ext cx="1069848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4297680"/>
                <a:gridCol w="4297680"/>
              </a:tblGrid>
              <a:tr h="49149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8FAFC"/>
                          </a:solidFill>
                          <a:latin typeface="Inter Display"/>
                        </a:rPr>
                        <a:t>Status Flag (Core)</a:t>
                      </a:r>
                    </a:p>
                  </a:txBody>
                  <a:tcPr anchor="ctr" marL="109728" marR="109728" marT="45720" marB="45720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8FAFC"/>
                          </a:solidFill>
                          <a:latin typeface="Inter Display"/>
                        </a:rPr>
                        <a:t>When It Is True</a:t>
                      </a:r>
                    </a:p>
                  </a:txBody>
                  <a:tcPr anchor="ctr" marL="109728" marR="109728" marT="45720" marB="45720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8FAFC"/>
                          </a:solidFill>
                          <a:latin typeface="Inter Display"/>
                        </a:rPr>
                        <a:t>UI Pattern for Students</a:t>
                      </a:r>
                    </a:p>
                  </a:txBody>
                  <a:tcPr anchor="ctr" marL="109728" marR="109728" marT="45720" marB="45720">
                    <a:solidFill>
                      <a:srgbClr val="0F172A"/>
                    </a:solidFill>
                  </a:tcPr>
                </a:tc>
              </a:tr>
              <a:tr h="49149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E11D48"/>
                          </a:solidFill>
                          <a:latin typeface="Inter"/>
                        </a:rPr>
                        <a:t>isPending</a:t>
                      </a:r>
                    </a:p>
                  </a:txBody>
                  <a:tcPr anchor="ctr" marL="109728" marR="109728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  <a:latin typeface="Inter"/>
                        </a:rPr>
                        <a:t>Cache has no data yet (status === 'pending').</a:t>
                      </a:r>
                    </a:p>
                  </a:txBody>
                  <a:tcPr anchor="ctr" marL="109728" marR="109728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334155"/>
                          </a:solidFill>
                          <a:latin typeface="Inter"/>
                        </a:rPr>
                        <a:t>Render initial skeleton or empty placeholder.</a:t>
                      </a:r>
                    </a:p>
                  </a:txBody>
                  <a:tcPr anchor="ctr" marL="109728" marR="109728" marT="45720" marB="45720">
                    <a:solidFill>
                      <a:srgbClr val="F1F5F9"/>
                    </a:solidFill>
                  </a:tcPr>
                </a:tc>
              </a:tr>
              <a:tr h="49149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E11D48"/>
                          </a:solidFill>
                          <a:latin typeface="Inter"/>
                        </a:rPr>
                        <a:t>isFetching</a:t>
                      </a:r>
                    </a:p>
                  </a:txBody>
                  <a:tcPr anchor="ctr" marL="109728" marR="10972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  <a:latin typeface="Inter"/>
                        </a:rPr>
                        <a:t>Any network request is active (initial or background).</a:t>
                      </a:r>
                    </a:p>
                  </a:txBody>
                  <a:tcPr anchor="ctr" marL="109728" marR="10972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334155"/>
                          </a:solidFill>
                          <a:latin typeface="Inter"/>
                        </a:rPr>
                        <a:t>Show subtle top bar or 'Refreshing...' badge.</a:t>
                      </a:r>
                    </a:p>
                  </a:txBody>
                  <a:tcPr anchor="ctr" marL="109728" marR="109728" marT="45720" marB="45720"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E11D48"/>
                          </a:solidFill>
                          <a:latin typeface="Inter"/>
                        </a:rPr>
                        <a:t>isLoading</a:t>
                      </a:r>
                    </a:p>
                  </a:txBody>
                  <a:tcPr anchor="ctr" marL="109728" marR="109728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  <a:latin typeface="Inter"/>
                        </a:rPr>
                        <a:t>isPending &amp;&amp; isFetching (first active fetch).</a:t>
                      </a:r>
                    </a:p>
                  </a:txBody>
                  <a:tcPr anchor="ctr" marL="109728" marR="109728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334155"/>
                          </a:solidFill>
                          <a:latin typeface="Inter"/>
                        </a:rPr>
                        <a:t>Show primary full-section loading spinner.</a:t>
                      </a:r>
                    </a:p>
                  </a:txBody>
                  <a:tcPr anchor="ctr" marL="109728" marR="109728" marT="45720" marB="4572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206240"/>
            <a:ext cx="5120640" cy="1874519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0284C7"/>
                </a:solidFill>
                <a:latin typeface="Inter Display"/>
              </a:rPr>
              <a:t>Mention: Global Defaults &amp; Return Fields</a:t>
            </a:r>
          </a:p>
          <a:p>
            <a:pPr algn="l" marL="219456" indent="-219456">
              <a:spcAft>
                <a:spcPts val="6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Global Defaults: </a:t>
            </a:r>
            <a:r>
              <a:rPr sz="1500" b="0">
                <a:solidFill>
                  <a:srgbClr val="334155"/>
                </a:solidFill>
                <a:latin typeface="Inter"/>
              </a:rPr>
              <a:t>Configure staleTime, gcTime, and retry on QueryClient.</a:t>
            </a:r>
          </a:p>
          <a:p>
            <a:pPr algn="l" marL="219456" indent="-219456">
              <a:spcAft>
                <a:spcPts val="4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Return Fields: </a:t>
            </a:r>
            <a:r>
              <a:rPr sz="1500" b="0">
                <a:solidFill>
                  <a:srgbClr val="334155"/>
                </a:solidFill>
                <a:latin typeface="Inter"/>
              </a:rPr>
              <a:t>Read data, error, isError, isSuccess, and status.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59" y="4206240"/>
            <a:ext cx="5120640" cy="1874519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E11D48"/>
                </a:solidFill>
                <a:latin typeface="Inter Display"/>
              </a:rPr>
              <a:t>Mention: React Query DevTools Setup</a:t>
            </a:r>
          </a:p>
          <a:p>
            <a:pPr algn="l" marL="219456" indent="-219456">
              <a:spcAft>
                <a:spcPts val="6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Cache Inspector: </a:t>
            </a:r>
            <a:r>
              <a:rPr sz="1500" b="0">
                <a:solidFill>
                  <a:srgbClr val="334155"/>
                </a:solidFill>
                <a:latin typeface="Inter"/>
              </a:rPr>
              <a:t>Mount &lt;ReactQueryDevtools /&gt; inside QueryClientProvider.</a:t>
            </a:r>
          </a:p>
          <a:p>
            <a:pPr algn="l" marL="219456" indent="-219456">
              <a:spcAft>
                <a:spcPts val="4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Live Debugging: </a:t>
            </a:r>
            <a:r>
              <a:rPr sz="1500" b="0">
                <a:solidFill>
                  <a:srgbClr val="334155"/>
                </a:solidFill>
                <a:latin typeface="Inter"/>
              </a:rPr>
              <a:t>Inspect fresh, stale, and inactive queries in development.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Inter"/>
              </a:rPr>
              <a:t>Modules 4–5 Core &amp; Mention · Status Flags, Global Defaults, DevTools &amp; Return Fields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ropped_bleed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304" y="0"/>
            <a:ext cx="6095390" cy="6858000"/>
          </a:xfrm>
          <a:prstGeom prst="rect">
            <a:avLst/>
          </a:prstGeom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512064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11D48"/>
                </a:solidFill>
                <a:latin typeface="Inter"/>
              </a:rPr>
              <a:t>6–7. KEYS &amp; QUERYFN · CORE + MENTION</a:t>
            </a:r>
          </a:p>
          <a:p>
            <a:pPr algn="l"/>
            <a:r>
              <a:rPr sz="2800" b="1">
                <a:solidFill>
                  <a:srgbClr val="0F172A"/>
                </a:solidFill>
                <a:latin typeface="Inter Display"/>
              </a:rPr>
              <a:t>Use Unique Query Keys and Promise queryFns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5120640" cy="4206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 b="1">
                <a:solidFill>
                  <a:srgbClr val="E11D48"/>
                </a:solidFill>
                <a:latin typeface="Inter Display"/>
              </a:rPr>
              <a:t>Cache Addressing &amp; Promise Rules</a:t>
            </a:r>
          </a:p>
          <a:p>
            <a:pPr algn="l" marL="219456" indent="-219456">
              <a:spcAft>
                <a:spcPts val="10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Key Identity (Core): </a:t>
            </a:r>
            <a:r>
              <a:rPr sz="1500" b="0">
                <a:solidFill>
                  <a:srgbClr val="334155"/>
                </a:solidFill>
                <a:latin typeface="Inter"/>
              </a:rPr>
              <a:t>Keys index the cache; nest params like ['users', id].</a:t>
            </a:r>
          </a:p>
          <a:p>
            <a:pPr algn="l" marL="219456" indent="-219456">
              <a:spcAft>
                <a:spcPts val="10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Promise &amp; Errors (Core): </a:t>
            </a:r>
            <a:r>
              <a:rPr sz="1500" b="0">
                <a:solidFill>
                  <a:srgbClr val="334155"/>
                </a:solidFill>
                <a:latin typeface="Inter"/>
              </a:rPr>
              <a:t>queryFn returns a Promise and throws on failed requests.</a:t>
            </a:r>
          </a:p>
          <a:p>
            <a:pPr algn="l" marL="219456" indent="-219456">
              <a:spcAft>
                <a:spcPts val="10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Cancellation (Core): </a:t>
            </a:r>
            <a:r>
              <a:rPr sz="1500" b="0">
                <a:solidFill>
                  <a:srgbClr val="334155"/>
                </a:solidFill>
                <a:latin typeface="Inter"/>
              </a:rPr>
              <a:t>Pass AbortSignal from query context to cancel stale fetches.</a:t>
            </a:r>
          </a:p>
          <a:p>
            <a:pPr algn="l" marL="219456" indent="-219456">
              <a:spcAft>
                <a:spcPts val="10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Mention Deep Dives: </a:t>
            </a:r>
            <a:r>
              <a:rPr sz="1500" b="0">
                <a:solidFill>
                  <a:srgbClr val="334155"/>
                </a:solidFill>
                <a:latin typeface="Inter"/>
              </a:rPr>
              <a:t>Key factories, Fetch vs Axios (!res.ok), and context fields.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512064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Inter"/>
              </a:rPr>
              <a:t>Modules 6–7 · Keys, queryFn &amp; AbortSignal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11D48"/>
                </a:solidFill>
                <a:latin typeface="Inter"/>
              </a:rPr>
              <a:t>PRACTICE &amp; REVIEW · FULL LESSON.MD</a:t>
            </a:r>
          </a:p>
          <a:p>
            <a:pPr algn="l"/>
            <a:r>
              <a:rPr sz="3000" b="1">
                <a:solidFill>
                  <a:srgbClr val="0F172A"/>
                </a:solidFill>
                <a:latin typeface="Inter Display"/>
              </a:rPr>
              <a:t>Apply Phases 1–2 in Full lesson.md Practice and Project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291840" cy="3749039"/>
          </a:xfrm>
          <a:prstGeom prst="roundRect">
            <a:avLst>
              <a:gd name="adj" fmla="val 6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2267712"/>
            <a:ext cx="2779776" cy="3236975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11D48"/>
                </a:solidFill>
                <a:latin typeface="Inter Display"/>
              </a:rPr>
              <a:t>Practice &amp; Labs</a:t>
            </a:r>
          </a:p>
          <a:p>
            <a:pPr algn="l" marL="219456" indent="-219456">
              <a:spcAft>
                <a:spcPts val="16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useEffect vs React Query: </a:t>
            </a:r>
            <a:r>
              <a:rPr sz="1500" b="0">
                <a:solidFill>
                  <a:srgbClr val="334155"/>
                </a:solidFill>
                <a:latin typeface="Inter"/>
              </a:rPr>
              <a:t>Refactor a fragile manual useEffect fetch into useQuery.</a:t>
            </a:r>
          </a:p>
          <a:p>
            <a:pPr algn="l" marL="219456" indent="-219456">
              <a:spcAft>
                <a:spcPts val="16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Project 1: User Directory: </a:t>
            </a:r>
            <a:r>
              <a:rPr sz="1500" b="0">
                <a:solidFill>
                  <a:srgbClr val="334155"/>
                </a:solidFill>
                <a:latin typeface="Inter"/>
              </a:rPr>
              <a:t>Build a searchable user list with parameterized keys and refetch.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2011680"/>
            <a:ext cx="3291840" cy="3749039"/>
          </a:xfrm>
          <a:prstGeom prst="roundRect">
            <a:avLst>
              <a:gd name="adj" fmla="val 6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90872" y="2267712"/>
            <a:ext cx="2779776" cy="3236975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0284C7"/>
                </a:solidFill>
                <a:latin typeface="Inter Display"/>
              </a:rPr>
              <a:t>Self-Check Quiz</a:t>
            </a:r>
          </a:p>
          <a:p>
            <a:pPr algn="l" marL="219456" indent="-219456">
              <a:spcAft>
                <a:spcPts val="16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Core Concept Check: </a:t>
            </a:r>
            <a:r>
              <a:rPr sz="1500" b="0">
                <a:solidFill>
                  <a:srgbClr val="334155"/>
                </a:solidFill>
                <a:latin typeface="Inter"/>
              </a:rPr>
              <a:t>Contrast server vs client state and fresh vs stale cache.</a:t>
            </a:r>
          </a:p>
          <a:p>
            <a:pPr algn="l" marL="219456" indent="-219456">
              <a:spcAft>
                <a:spcPts val="16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Code &amp; Key Audit: </a:t>
            </a:r>
            <a:r>
              <a:rPr sz="1500" b="0">
                <a:solidFill>
                  <a:srgbClr val="334155"/>
                </a:solidFill>
                <a:latin typeface="Inter"/>
              </a:rPr>
              <a:t>Verify isPending vs isFetching and proper queryKey params.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2011680"/>
            <a:ext cx="3291840" cy="3749039"/>
          </a:xfrm>
          <a:prstGeom prst="roundRect">
            <a:avLst>
              <a:gd name="adj" fmla="val 6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94192" y="2267712"/>
            <a:ext cx="2779776" cy="3236975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11D48"/>
                </a:solidFill>
                <a:latin typeface="Inter Display"/>
              </a:rPr>
              <a:t>Phase 3 Preview</a:t>
            </a:r>
          </a:p>
          <a:p>
            <a:pPr algn="l" marL="219456" indent="-219456">
              <a:spcAft>
                <a:spcPts val="16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Next in Phase 3: </a:t>
            </a:r>
            <a:r>
              <a:rPr sz="1500" b="0">
                <a:solidFill>
                  <a:srgbClr val="334155"/>
                </a:solidFill>
                <a:latin typeface="Inter"/>
              </a:rPr>
              <a:t>Advance to custom staleTime, gcTime, and mutations.</a:t>
            </a:r>
          </a:p>
          <a:p>
            <a:pPr algn="l" marL="219456" indent="-219456">
              <a:spcAft>
                <a:spcPts val="16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If You Missed Class: </a:t>
            </a:r>
            <a:r>
              <a:rPr sz="1500" b="0">
                <a:solidFill>
                  <a:srgbClr val="334155"/>
                </a:solidFill>
                <a:latin typeface="Inter"/>
              </a:rPr>
              <a:t>Read full lesson.md in Study Vault and toggle Mention blocks.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Inter"/>
              </a:rPr>
              <a:t>Practice Roadmap · Located at the bottom of full lesson.md in Study Vault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9875520" cy="2011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1">
                <a:solidFill>
                  <a:srgbClr val="FB7185"/>
                </a:solidFill>
                <a:latin typeface="Inter"/>
              </a:rPr>
              <a:t>LESSON 01 COMPLETE · STUDY VAULT</a:t>
            </a:r>
          </a:p>
          <a:p>
            <a:pPr algn="l"/>
            <a:r>
              <a:rPr sz="3800" b="1">
                <a:solidFill>
                  <a:srgbClr val="F8FAFC"/>
                </a:solidFill>
                <a:latin typeface="Inter Display"/>
              </a:rPr>
              <a:t>Keys Identify the Cache. React Query Synchronizes the Server.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9875520" cy="10972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2000" b="0">
                <a:solidFill>
                  <a:srgbClr val="CBD5E1"/>
                </a:solidFill>
                <a:latin typeface="Inter"/>
              </a:rPr>
              <a:t>Open lesson.md in Study Vault for Project 1: User Directory.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Inter"/>
              </a:rPr>
              <a:t>JOB Core · Phases 1–2 · 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